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2742fbcef794ddf" /><Relationship Type="http://schemas.openxmlformats.org/officeDocument/2006/relationships/extended-properties" Target="/docProps/app.xml" Id="Re9c1b18be3534f4f" /><Relationship Type="http://schemas.openxmlformats.org/officeDocument/2006/relationships/officeDocument" Target="/ppt/presentation.xml" Id="R1a7d2e5062f9423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3b90c0dc3347b3"/>
  </p:sldMasterIdLst>
  <p:notesMasterIdLst>
    <p:notesMasterId xmlns:r="http://schemas.openxmlformats.org/officeDocument/2006/relationships" r:id="R62277165d4e748a7"/>
  </p:notesMasterIdLst>
  <p:sldIdLst>
    <p:sldId xmlns:r="http://schemas.openxmlformats.org/officeDocument/2006/relationships" id="256" r:id="Red66d6de16d84a19"/>
    <p:sldId xmlns:r="http://schemas.openxmlformats.org/officeDocument/2006/relationships" id="257" r:id="Rabef0663d4b64a1c"/>
    <p:sldId xmlns:r="http://schemas.openxmlformats.org/officeDocument/2006/relationships" id="258" r:id="Rb359cc54238e49b8"/>
    <p:sldId xmlns:r="http://schemas.openxmlformats.org/officeDocument/2006/relationships" id="259" r:id="R85964b296ece4b31"/>
    <p:sldId xmlns:r="http://schemas.openxmlformats.org/officeDocument/2006/relationships" id="260" r:id="R32c72432607247c5"/>
    <p:sldId xmlns:r="http://schemas.openxmlformats.org/officeDocument/2006/relationships" id="261" r:id="Rc7bdb09b117d4efd"/>
    <p:sldId xmlns:r="http://schemas.openxmlformats.org/officeDocument/2006/relationships" id="262" r:id="Rcacb61a850894fb1"/>
    <p:sldId xmlns:r="http://schemas.openxmlformats.org/officeDocument/2006/relationships" id="263" r:id="Rb0a901455f3f42f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8f60f89f1fc4f52" /><Relationship Type="http://schemas.openxmlformats.org/officeDocument/2006/relationships/slideMaster" Target="/ppt/slideMasters/slideMaster1.xml" Id="Re13b90c0dc3347b3" /><Relationship Type="http://schemas.openxmlformats.org/officeDocument/2006/relationships/notesMaster" Target="/ppt/notesMasters/notesMaster1.xml" Id="R62277165d4e748a7" /><Relationship Type="http://schemas.openxmlformats.org/officeDocument/2006/relationships/presProps" Target="/ppt/presProps.xml" Id="R06618f54f08740f1" /><Relationship Type="http://schemas.openxmlformats.org/officeDocument/2006/relationships/tableStyles" Target="/ppt/tableStyles.xml" Id="Re38ab6617df241eb" /><Relationship Type="http://schemas.openxmlformats.org/officeDocument/2006/relationships/slide" Target="/ppt/slides/slide1.xml" Id="Red66d6de16d84a19" /><Relationship Type="http://schemas.openxmlformats.org/officeDocument/2006/relationships/slide" Target="/ppt/slides/slide2.xml" Id="Rabef0663d4b64a1c" /><Relationship Type="http://schemas.openxmlformats.org/officeDocument/2006/relationships/slide" Target="/ppt/slides/slide3.xml" Id="Rb359cc54238e49b8" /><Relationship Type="http://schemas.openxmlformats.org/officeDocument/2006/relationships/slide" Target="/ppt/slides/slide4.xml" Id="R85964b296ece4b31" /><Relationship Type="http://schemas.openxmlformats.org/officeDocument/2006/relationships/slide" Target="/ppt/slides/slide5.xml" Id="R32c72432607247c5" /><Relationship Type="http://schemas.openxmlformats.org/officeDocument/2006/relationships/slide" Target="/ppt/slides/slide6.xml" Id="Rc7bdb09b117d4efd" /><Relationship Type="http://schemas.openxmlformats.org/officeDocument/2006/relationships/slide" Target="/ppt/slides/slide7.xml" Id="Rcacb61a850894fb1" /><Relationship Type="http://schemas.openxmlformats.org/officeDocument/2006/relationships/slide" Target="/ppt/slides/slide8.xml" Id="Rb0a901455f3f42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e60baf27b1d404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4062f555e0a4815" /><Relationship Type="http://schemas.openxmlformats.org/officeDocument/2006/relationships/notesMaster" Target="/ppt/notesMasters/notesMaster1.xml" Id="R1f9a06368cd242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f83f4c3304a43ff" /><Relationship Type="http://schemas.openxmlformats.org/officeDocument/2006/relationships/notesMaster" Target="/ppt/notesMasters/notesMaster1.xml" Id="R14d2924f98e248e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e3be0f8203747eb" /><Relationship Type="http://schemas.openxmlformats.org/officeDocument/2006/relationships/notesMaster" Target="/ppt/notesMasters/notesMaster1.xml" Id="Ra6c5d845218547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c94f18a932d43b6" /><Relationship Type="http://schemas.openxmlformats.org/officeDocument/2006/relationships/notesMaster" Target="/ppt/notesMasters/notesMaster1.xml" Id="R092d46dde01f47f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b5fc429108d4cd8" /><Relationship Type="http://schemas.openxmlformats.org/officeDocument/2006/relationships/notesMaster" Target="/ppt/notesMasters/notesMaster1.xml" Id="R37540315efab456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c23159f7093430e" /><Relationship Type="http://schemas.openxmlformats.org/officeDocument/2006/relationships/notesMaster" Target="/ppt/notesMasters/notesMaster1.xml" Id="R120674ec26844cc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ef83b7853a74b61" /><Relationship Type="http://schemas.openxmlformats.org/officeDocument/2006/relationships/notesMaster" Target="/ppt/notesMasters/notesMaster1.xml" Id="R6869536f98ed47e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fd865c5562945ec" /><Relationship Type="http://schemas.openxmlformats.org/officeDocument/2006/relationships/notesMaster" Target="/ppt/notesMasters/notesMaster1.xml" Id="Rff9bd4e7713844c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Abertura: a tese é que a qualidade da resposta cresce conforme o pipeline passa a entender arquivo, trecho e contexto.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Projeto ai-search-demo: README.md e implementação em src/ (acessado em 12/08/2026).</a:t>
            </a:r>
          </a:p>
          <a:p xmlns:a="http://schemas.openxmlformats.org/drawingml/2006/main">
            <a:r>
              <a:t>- Azure AI Search: https://learn.microsoft.com/pt-br/azure/search/index-similarity-and-scoring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esta lâmina como mapa da apresentação: cada fase adiciona uma camada de entendimento e muda o tipo de pergunta que conseguimos responder.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Projeto ai-search-demo: README.md e implementação em src/ (acessado em 12/08/2026).</a:t>
            </a:r>
          </a:p>
          <a:p xmlns:a="http://schemas.openxmlformats.org/drawingml/2006/main">
            <a:r>
              <a:t>- Azure AI Search: https://learn.microsoft.com/pt-br/azure/search/index-similarity-and-scoring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Explique o índice invertido em linguagem simples: em vez de ler todos os arquivos a cada pergunta, o Search já sabe onde cada termo aparece.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Projeto ai-search-demo: README.md e implementação em src/ (acessado em 12/08/2026).</a:t>
            </a:r>
          </a:p>
          <a:p xmlns:a="http://schemas.openxmlformats.org/drawingml/2006/main">
            <a:r>
              <a:t>- Azure AI Search: https://learn.microsoft.com/pt-br/azure/search/index-similarity-and-scoring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Conecte esta fase ao teste que fizemos com “folha de pagamento com foco em ajustes”: BM25 preserva precisão lexical e o vetor amplia a lembrança semântica.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Projeto ai-search-demo: README.md e implementação em src/ (acessado em 12/08/2026).</a:t>
            </a:r>
          </a:p>
          <a:p xmlns:a="http://schemas.openxmlformats.org/drawingml/2006/main">
            <a:r>
              <a:t>- Azure AI Search: https://learn.microsoft.com/pt-br/azure/search/index-similarity-and-scoring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Destaque a separação de responsabilidades: Search recupera; o modelo redige. O prompt trata os arquivos como conteúdo não confiável, exige citações e proíbe completar lacunas com conhecimento geral.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Projeto ai-search-demo: README.md e implementação em src/ (acessado em 12/08/2026).</a:t>
            </a:r>
          </a:p>
          <a:p xmlns:a="http://schemas.openxmlformats.org/drawingml/2006/main">
            <a:r>
              <a:t>- Azure AI Search: https://learn.microsoft.com/pt-br/azure/search/index-similarity-and-scoring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esta comparação para consolidar a aprendizagem: indexar não é o mesmo que responder; vetorização melhora recuperação; RAG adiciona contexto, memória e rastreabilidade.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Projeto ai-search-demo: README.md e implementação em src/ (acessado em 12/08/2026).</a:t>
            </a:r>
          </a:p>
          <a:p xmlns:a="http://schemas.openxmlformats.org/drawingml/2006/main">
            <a:r>
              <a:t>- Azure AI Search: https://learn.microsoft.com/pt-br/azure/search/index-similarity-and-scoring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Roteiro real de smoke test em produção: release 1.69.1, follow-up sobre folha de pagamento, comparação e pergunta sem respaldo.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Projeto ai-search-demo: README.md e implementação em src/ (acessado em 12/08/2026).</a:t>
            </a:r>
          </a:p>
          <a:p xmlns:a="http://schemas.openxmlformats.org/drawingml/2006/main">
            <a:r>
              <a:t>- Azure AI Search: https://learn.microsoft.com/pt-br/azure/search/index-similarity-and-scoring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Fechamento: convide o time a pensar nas perguntas que queremos suportar e nos sinais que tornam uma resposta confiável.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Projeto ai-search-demo: README.md e implementação em src/ (acessado em 12/08/2026).</a:t>
            </a:r>
          </a:p>
          <a:p xmlns:a="http://schemas.openxmlformats.org/drawingml/2006/main">
            <a:r>
              <a:t>- Azure AI Search: https://learn.microsoft.com/pt-br/azure/search/index-similarity-and-scoring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7de9d661244a1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5842222528048ed" /><Relationship Type="http://schemas.openxmlformats.org/officeDocument/2006/relationships/slideLayout" Target="/ppt/slideLayouts/slideLayout1.xml" Id="R0fcd8981ebcb4e4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cd8981ebcb4e4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48ec44d5d04be5" /><Relationship Type="http://schemas.openxmlformats.org/officeDocument/2006/relationships/notesSlide" Target="/ppt/notesSlides/notesSlide1.xml" Id="Rc3680c68c375483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03ee7799924c38" /><Relationship Type="http://schemas.openxmlformats.org/officeDocument/2006/relationships/notesSlide" Target="/ppt/notesSlides/notesSlide2.xml" Id="Rf0b0b8fd829f42b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9f7448388b49fa" /><Relationship Type="http://schemas.openxmlformats.org/officeDocument/2006/relationships/notesSlide" Target="/ppt/notesSlides/notesSlide3.xml" Id="Rdafd5baa676b4d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5cb324d16f4801" /><Relationship Type="http://schemas.openxmlformats.org/officeDocument/2006/relationships/notesSlide" Target="/ppt/notesSlides/notesSlide4.xml" Id="R0b2087bed9eb49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eb4ad5535b470b" /><Relationship Type="http://schemas.openxmlformats.org/officeDocument/2006/relationships/notesSlide" Target="/ppt/notesSlides/notesSlide5.xml" Id="Rc4e7fa64ca3e485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b869ca675e4b0b" /><Relationship Type="http://schemas.openxmlformats.org/officeDocument/2006/relationships/notesSlide" Target="/ppt/notesSlides/notesSlide6.xml" Id="R99ee326a66514fb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41b72572914809" /><Relationship Type="http://schemas.openxmlformats.org/officeDocument/2006/relationships/notesSlide" Target="/ppt/notesSlides/notesSlide7.xml" Id="Rf35ef7abc97541e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c83b037e4e4ac9" /><Relationship Type="http://schemas.openxmlformats.org/officeDocument/2006/relationships/notesSlide" Target="/ppt/notesSlides/notesSlide8.xml" Id="R6a7453bcd751483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A0B7EF-429A-48DF-8863-6EF410B3E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F3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2F9878-FB45-403A-8C06-C6A494B7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800100"/>
            <a:ext cx="2095500" cy="209550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C9F36B"/>
          </a:solidFill>
          <a:ln xmlns:a="http://schemas.openxmlformats.org/drawingml/2006/main" w="0">
            <a:solidFill>
              <a:srgbClr val="C9F36B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3157B0-96C2-4B17-A99E-1B6744863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31445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B3A"/>
          </a:solidFill>
          <a:ln xmlns:a="http://schemas.openxmlformats.org/drawingml/2006/main" w="0">
            <a:solidFill>
              <a:srgbClr val="172B3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1E1968-7F92-4D9C-95A3-5F5911C12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504950"/>
            <a:ext cx="533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750" b="1" i="0">
                <a:solidFill>
                  <a:srgbClr val="C9F36B"/>
                </a:solidFill>
                <a:latin typeface="Aptos"/>
                <a:ea typeface="Aptos"/>
                <a:cs typeface="Aptos"/>
              </a:defRPr>
            </a:pPr>
            <a:r>
              <a:rPr sz="3750" b="1" i="0">
                <a:solidFill>
                  <a:srgbClr val="C9F36B"/>
                </a:solidFill>
                <a:latin typeface="Aptos"/>
                <a:ea typeface="Aptos"/>
                <a:cs typeface="Aptos"/>
              </a:rPr>
              <a:t>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D938BB-9E76-427D-82C3-B0EFE87CA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96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A4A9C0-779D-4993-AB16-293656201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38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A961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6A961C"/>
                </a:solidFill>
                <a:latin typeface="Aptos"/>
                <a:ea typeface="Aptos"/>
                <a:cs typeface="Aptos"/>
              </a:rPr>
              <a:t>NEBULA SEARCH · MVP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738401-0690-4FDA-9023-6BA439082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7524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125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4125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Do arquivo bruto</a:t>
            </a:r>
          </a:p>
          <a:p xmlns:a="http://schemas.openxmlformats.org/drawingml/2006/main">
            <a:pPr algn="l">
              <a:defRPr sz="4125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4125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à conversa fundamentada.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B6167C-7A0A-4639-B1FA-241583C13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581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A evolução em 3 fases do nosso pipeline com Blob Storage, Azure AI Search e Microsoft Foundry.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33E45B-D328-45E0-B1A6-6C50D4F66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47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DECEF"/>
          </a:solidFill>
          <a:ln xmlns:a="http://schemas.openxmlformats.org/drawingml/2006/main" w="0">
            <a:solidFill>
              <a:srgbClr val="CDEC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1F69F8-5AF7-4CF2-ACCF-526BAFA1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95900"/>
            <a:ext cx="819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ARQUIVO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33F915-2136-4BAC-9087-0C8D86B90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19700"/>
            <a:ext cx="10096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D0FF"/>
          </a:solidFill>
          <a:ln xmlns:a="http://schemas.openxmlformats.org/drawingml/2006/main" w="0">
            <a:solidFill>
              <a:srgbClr val="DCD0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224100-01B0-4A14-9C56-212EDFC47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295900"/>
            <a:ext cx="781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TRECHO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7FABBE-E07C-480E-8644-81F32B93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219700"/>
            <a:ext cx="11620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F36B"/>
          </a:solidFill>
          <a:ln xmlns:a="http://schemas.openxmlformats.org/drawingml/2006/main" w="0">
            <a:solidFill>
              <a:srgbClr val="C9F36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593854-E376-44C7-95D5-D4250DC96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295900"/>
            <a:ext cx="933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RESPOSTA</a:t>
            </a:r>
          </a:p>
        </p:txBody>
      </p:sp>
      <p:cxnSp>
        <p:nvCxnSpPr>
          <p:cNvPr id="32" name=""/>
          <p:cNvCxnSpPr/>
          <p:nvPr/>
        </p:nvCxnSpPr>
        <p:spPr>
          <a:xfrm xmlns:a="http://schemas.openxmlformats.org/drawingml/2006/main">
            <a:off x="609600" y="6400800"/>
            <a:ext cx="109728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ED9"/>
            </a:solidFill>
            <a:prstDash val="soli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68D20B-FEBF-417E-B99D-642E63DB5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AI-SEARCH-DEMO · APRESENTAÇÃO DO MVP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58A1D1-B8E7-4B97-882B-022D9FF81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438008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2702B5-A9F1-4288-A220-32147B89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96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5FCAD1-CA0C-485D-B049-9314E05D3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38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A961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6A961C"/>
                </a:solidFill>
                <a:latin typeface="Aptos"/>
                <a:ea typeface="Aptos"/>
                <a:cs typeface="Aptos"/>
              </a:rPr>
              <a:t>A EVOLUÇÃO DO PRODUTO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B35FF4-E747-46A1-B9F7-AACC6E60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2850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A mesma pergunta muda de natureza em cada fase.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35E891-C200-4FF4-9E3D-F98847DF9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914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Primeiro encontramos documentos. Depois encontramos evidências. Por fim, conversamos sobre elas.</a:t>
            </a:r>
          </a:p>
        </p:txBody>
      </p:sp>
      <p:cxnSp>
        <p:nvCxnSpPr>
          <p:cNvPr id="31" name=""/>
          <p:cNvCxnSpPr/>
          <p:nvPr/>
        </p:nvCxnSpPr>
        <p:spPr>
          <a:xfrm xmlns:a="http://schemas.openxmlformats.org/drawingml/2006/main">
            <a:off x="2171700" y="3390900"/>
            <a:ext cx="7353300" cy="95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8DED9"/>
            </a:solidFill>
            <a:prstDash val="solid"/>
          </a:ln>
        </p:spPr>
      </p:cxn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0D20C6-D204-4E9C-BCDE-8CEA4CBC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2861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96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FF70AB-CDAE-41B9-B4F6-432BF8DAB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2861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A8A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970F9F-EA98-405B-B495-FBE5AF542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32861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EE14D0-6DC8-4649-8E68-563740D1D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3086100" cy="247650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ED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7CFF24-D5A7-49E3-ADB3-849E1BD3F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A961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6A961C"/>
                </a:solidFill>
                <a:latin typeface="Aptos"/>
                <a:ea typeface="Aptos"/>
                <a:cs typeface="Aptos"/>
              </a:rPr>
              <a:t>FASE 1 · BUSCA POR PALAVRA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E276F6-8537-40E8-8AA7-B0440ACE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95575"/>
            <a:ext cx="266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Onde isso aparece?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4FDDD3-7FAF-445C-A991-F84098F9A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33750"/>
            <a:ext cx="2667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O arquivo vira texto indexado. A pergunta é comparada às palavras presentes e os resultados são ordenados por relevância lexical.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9F1100-4ABB-4FAB-9F4F-8418D1F3D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171700"/>
            <a:ext cx="3086100" cy="247650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E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9E052A-8A98-498B-84E2-53B21B4CF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3622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4A8A9A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4A8A9A"/>
                </a:solidFill>
                <a:latin typeface="Aptos"/>
                <a:ea typeface="Aptos"/>
                <a:cs typeface="Aptos"/>
              </a:rPr>
              <a:t>FASE 2 · BUSCA HÍBRIDA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A94513-09EA-4BFA-BE64-F7C2C6907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695575"/>
            <a:ext cx="266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O que é parecido?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B8032E-DBCF-4DB9-895F-2B113DEF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33750"/>
            <a:ext cx="2667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Além das palavras, cada trecho ganha um vetor. A pergunta encontra ideias semelhantes mesmo quando a redação muda.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4ED6D5-44DC-4896-A9EC-628627AC2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71700"/>
            <a:ext cx="3543300" cy="247650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ED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CD2AE1-E5E0-478C-B1E6-995BF096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62200"/>
            <a:ext cx="3124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C56C4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7C56C4"/>
                </a:solidFill>
                <a:latin typeface="Aptos"/>
                <a:ea typeface="Aptos"/>
                <a:cs typeface="Aptos"/>
              </a:rPr>
              <a:t>FASE 3 · RAG CONVERSACIONAL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C926F7-B581-4DA4-9500-F27425535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95575"/>
            <a:ext cx="312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O que os arquivos sustentam?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FB80BE-D1B3-499F-83B7-C1173A6E3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3750"/>
            <a:ext cx="3124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O modelo recebe os melhores trechos, responde com memória curta e aponta as fontes que sustentam cada afirmação.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455A9D-0583-4F43-AA89-36DB0547F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97205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Arquivo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BC467A-8793-4B86-80E2-ED12B7B82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97205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Trecho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CD1551-271F-460C-9933-57108C557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97205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Resposta</a:t>
            </a:r>
          </a:p>
        </p:txBody>
      </p:sp>
      <p:cxnSp>
        <p:nvCxnSpPr>
          <p:cNvPr id="50" name=""/>
          <p:cNvCxnSpPr/>
          <p:nvPr/>
        </p:nvCxnSpPr>
        <p:spPr>
          <a:xfrm xmlns:a="http://schemas.openxmlformats.org/drawingml/2006/main">
            <a:off x="609600" y="6400800"/>
            <a:ext cx="109728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ED9"/>
            </a:solidFill>
            <a:prstDash val="solid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F93DAC-9BA5-4A4D-8947-3425D4D67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AI-SEARCH-DEMO · AZURE AI SEARCH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E3230F-8DA7-4B25-A5AD-F3F5EDE6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349353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2FC70D-522D-4D59-8CAA-0586FF8B5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96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B251A2-D728-430E-A932-ABFA2A3C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38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A961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6A961C"/>
                </a:solidFill>
                <a:latin typeface="Aptos"/>
                <a:ea typeface="Aptos"/>
                <a:cs typeface="Aptos"/>
              </a:rPr>
              <a:t>FASE 1 · ENCONTRAR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6FBA54-6C33-42BF-813A-ABA240317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2850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O arquivo deixa de ser um anexo e vira um índice pesquisável.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4D2A74-C6B3-44BE-AA58-E7BD14794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914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O objetivo inicial não é conversar: é localizar rapidamente os documentos candidatos.</a:t>
            </a:r>
          </a:p>
        </p:txBody>
      </p:sp>
      <p:cxnSp>
        <p:nvCxnSpPr>
          <p:cNvPr id="29" name=""/>
          <p:cNvCxnSpPr/>
          <p:nvPr/>
        </p:nvCxnSpPr>
        <p:spPr>
          <a:xfrm xmlns:a="http://schemas.openxmlformats.org/drawingml/2006/main">
            <a:off x="2724150" y="3276600"/>
            <a:ext cx="1143000" cy="95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A961C"/>
            </a:solidFill>
            <a:prstDash val="solid"/>
          </a:ln>
        </p:spPr>
      </p:cxnSp>
      <p:cxnSp>
        <p:nvCxnSpPr>
          <p:cNvPr id="30" name=""/>
          <p:cNvCxnSpPr/>
          <p:nvPr/>
        </p:nvCxnSpPr>
        <p:spPr>
          <a:xfrm xmlns:a="http://schemas.openxmlformats.org/drawingml/2006/main">
            <a:off x="5772150" y="3276600"/>
            <a:ext cx="1143000" cy="95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A961C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63F890-7215-4A6B-992E-69333D82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038350" cy="16002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CDECEF"/>
          </a:solidFill>
          <a:ln xmlns:a="http://schemas.openxmlformats.org/drawingml/2006/main" w="9525">
            <a:solidFill>
              <a:srgbClr val="D8DED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DA63DB-348B-42FE-9AA6-DA9ABF1E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4A8A9A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4A8A9A"/>
                </a:solidFill>
                <a:latin typeface="Aptos"/>
                <a:ea typeface="Aptos"/>
                <a:cs typeface="Aptos"/>
              </a:rPr>
              <a:t>01 · Blob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7CD1B9-EF42-44AD-B37D-07584106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90850"/>
            <a:ext cx="17335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PDF, DOCX ou TXT</a:t>
            </a:r>
          </a:p>
          <a:p xmlns:a="http://schemas.openxmlformats.org/drawingml/2006/main">
            <a:pPr algn="l">
              <a:defRPr sz="1125" b="0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fica armazenado com identidade e status de indexação.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D6FE59-6ADD-453A-A2F1-810446802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476500"/>
            <a:ext cx="1905000" cy="16002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ED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ABC61E-D523-47A9-B2A4-8D0A497D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628900"/>
            <a:ext cx="160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6A961C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6A961C"/>
                </a:solidFill>
                <a:latin typeface="Aptos"/>
                <a:ea typeface="Aptos"/>
                <a:cs typeface="Aptos"/>
              </a:rPr>
              <a:t>02 · Indexador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13954E-3EC1-4368-A56C-D74D8572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990850"/>
            <a:ext cx="16002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Extrai texto, quebra em chunks e atualiza o índice do Azure AI Search.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611F64-A58D-4517-87DE-1FFAC4F64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476500"/>
            <a:ext cx="2038350" cy="16002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E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3CDA57-F88F-47D2-9552-BF5B57155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62890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72B3A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72B3A"/>
                </a:solidFill>
                <a:latin typeface="Aptos"/>
                <a:ea typeface="Aptos"/>
                <a:cs typeface="Aptos"/>
              </a:rPr>
              <a:t>03 · Índice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EC99D1-02D5-490F-9010-B9A36547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990850"/>
            <a:ext cx="17335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Cada termo aponta para os documentos e trechos onde aparece.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A146A9-F0B3-400C-8EDA-43081644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2057400" cy="16002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0">
            <a:solidFill>
              <a:srgbClr val="172B3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14E895-0F52-47AF-BA3F-D202A8B54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6860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C9F36B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C9F36B"/>
                </a:solidFill>
                <a:latin typeface="Aptos"/>
                <a:ea typeface="Aptos"/>
                <a:cs typeface="Aptos"/>
              </a:rPr>
              <a:t>Pergunta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95C81F-85D0-46BA-9736-13239529E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05150"/>
            <a:ext cx="161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FFFDF8"/>
                </a:solidFill>
                <a:latin typeface="Aptos"/>
                <a:ea typeface="Aptos"/>
                <a:cs typeface="Aptos"/>
              </a:rPr>
              <a:t>“O que mudou</a:t>
            </a:r>
          </a:p>
          <a:p xmlns:a="http://schemas.openxmlformats.org/drawingml/2006/main">
            <a:pPr algn="l">
              <a:defRPr sz="1575" b="1" i="0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FFFDF8"/>
                </a:solidFill>
                <a:latin typeface="Aptos"/>
                <a:ea typeface="Aptos"/>
                <a:cs typeface="Aptos"/>
              </a:rPr>
              <a:t>na 1.69.1?”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0C2751-839D-4F1F-AFBB-3041536D3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8013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E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7979C4-3514-4C3E-B6F0-F8CFE22F9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6A961C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6A961C"/>
                </a:solidFill>
                <a:latin typeface="Aptos"/>
                <a:ea typeface="Aptos"/>
                <a:cs typeface="Aptos"/>
              </a:rPr>
              <a:t>Como a pergunta é tratada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EB034C-21AF-47C9-BCD7-2C74AD204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914900"/>
            <a:ext cx="752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A busca procura palavras e termos próximos no índice. É rápida e explicável, mas depende da linguagem usada na pergunta e no arquivo.</a:t>
            </a:r>
          </a:p>
        </p:txBody>
      </p:sp>
      <p:cxnSp>
        <p:nvCxnSpPr>
          <p:cNvPr id="46" name=""/>
          <p:cNvCxnSpPr/>
          <p:nvPr/>
        </p:nvCxnSpPr>
        <p:spPr>
          <a:xfrm xmlns:a="http://schemas.openxmlformats.org/drawingml/2006/main">
            <a:off x="609600" y="6400800"/>
            <a:ext cx="109728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ED9"/>
            </a:solidFill>
            <a:prstDash val="soli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4B7F60-E909-4345-BDC5-E7E7E9617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AI-SEARCH-DEMO · AZURE AI 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2B8B08-5729-4F8B-8DBE-F51628AF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51386957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8149F4-6763-4B8F-B5F7-28D70473F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96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D6B269-3506-4B38-9376-D9CFFE8A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38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A961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6A961C"/>
                </a:solidFill>
                <a:latin typeface="Aptos"/>
                <a:ea typeface="Aptos"/>
                <a:cs typeface="Aptos"/>
              </a:rPr>
              <a:t>FASE 2 · ENTENDER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CBF34C-6A48-48DC-BC29-D1C2E04A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2850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A busca híbrida encontra palavras e significado ao mesmo tempo.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75F2A1-9842-4AC4-96B7-1382ED575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914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É aqui que “foco em ajustes” começa a pesar mais do que uma coincidência literal de termos.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11264A-0C08-402F-BFD0-10F1559A7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3524250" cy="28575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CDECEF"/>
          </a:solidFill>
          <a:ln xmlns:a="http://schemas.openxmlformats.org/drawingml/2006/main" w="0">
            <a:solidFill>
              <a:srgbClr val="CDEC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442797-C17C-4DF2-902A-748C90AC5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574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72B3A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172B3A"/>
                </a:solidFill>
                <a:latin typeface="Aptos"/>
                <a:ea typeface="Aptos"/>
                <a:cs typeface="Aptos"/>
              </a:rPr>
              <a:t>Pergunta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A899E9-2DEB-4C9F-B24E-932BD069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52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folha de pagamento</a:t>
            </a:r>
          </a:p>
          <a:p xmlns:a="http://schemas.openxmlformats.org/drawingml/2006/main">
            <a:pPr algn="l">
              <a:defRPr sz="2100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com foco em ajustes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36BCA1-7EB2-4903-9946-3FEE4D457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1480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Uma intenção. Várias palavras possíveis.</a:t>
            </a:r>
          </a:p>
        </p:txBody>
      </p:sp>
      <p:cxnSp>
        <p:nvCxnSpPr>
          <p:cNvPr id="36" name=""/>
          <p:cNvCxnSpPr/>
          <p:nvPr/>
        </p:nvCxnSpPr>
        <p:spPr>
          <a:xfrm xmlns:a="http://schemas.openxmlformats.org/drawingml/2006/main">
            <a:off x="4210050" y="2952750"/>
            <a:ext cx="933450" cy="6286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A8A9A"/>
            </a:solidFill>
            <a:prstDash val="solid"/>
          </a:ln>
        </p:spPr>
      </p:cxnSp>
      <p:cxnSp>
        <p:nvCxnSpPr>
          <p:cNvPr id="37" name=""/>
          <p:cNvCxnSpPr/>
          <p:nvPr/>
        </p:nvCxnSpPr>
        <p:spPr>
          <a:xfrm xmlns:a="http://schemas.openxmlformats.org/drawingml/2006/main">
            <a:off x="4210050" y="3581400"/>
            <a:ext cx="933450" cy="7048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7C56C4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32DF93-2672-44BE-B438-A3DDC85E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286000"/>
            <a:ext cx="2800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ED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6B4B15-BBF0-4CE9-9CCC-F741CE07A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438400"/>
            <a:ext cx="2495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4A8A9A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4A8A9A"/>
                </a:solidFill>
                <a:latin typeface="Aptos"/>
                <a:ea typeface="Aptos"/>
                <a:cs typeface="Aptos"/>
              </a:rPr>
              <a:t>BM25 · palavras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A2440F-7857-4EF1-AE45-6F9F47DD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800350"/>
            <a:ext cx="2495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Coincidência lexical, frequência e posição no texto.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402E8C-013E-4BFE-AD9A-26F4EAEE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86200"/>
            <a:ext cx="2800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ED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6737FF-651B-415D-AEA2-01F5407A5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038600"/>
            <a:ext cx="2495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C56C4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7C56C4"/>
                </a:solidFill>
                <a:latin typeface="Aptos"/>
                <a:ea typeface="Aptos"/>
                <a:cs typeface="Aptos"/>
              </a:rPr>
              <a:t>Vetor · significado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408FF7-BB60-431C-AE57-3C747D9BC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400550"/>
            <a:ext cx="2495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Proximidade semântica entre a pergunta e o chunk.</a:t>
            </a:r>
          </a:p>
        </p:txBody>
      </p:sp>
      <p:cxnSp>
        <p:nvCxnSpPr>
          <p:cNvPr id="44" name=""/>
          <p:cNvCxnSpPr/>
          <p:nvPr/>
        </p:nvCxnSpPr>
        <p:spPr>
          <a:xfrm xmlns:a="http://schemas.openxmlformats.org/drawingml/2006/main">
            <a:off x="7943850" y="2886075"/>
            <a:ext cx="914400" cy="6953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72B3A"/>
            </a:solidFill>
            <a:prstDash val="solid"/>
          </a:ln>
        </p:spPr>
      </p:cxnSp>
      <p:cxnSp>
        <p:nvCxnSpPr>
          <p:cNvPr id="45" name=""/>
          <p:cNvCxnSpPr/>
          <p:nvPr/>
        </p:nvCxnSpPr>
        <p:spPr>
          <a:xfrm xmlns:a="http://schemas.openxmlformats.org/drawingml/2006/main">
            <a:off x="7943850" y="3581400"/>
            <a:ext cx="914400" cy="9048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72B3A"/>
            </a:solidFill>
            <a:prstDash val="soli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DD4D7B-D1CF-4E6C-B400-F0D7B79B5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71750"/>
            <a:ext cx="2628900" cy="201930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0">
            <a:solidFill>
              <a:srgbClr val="172B3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155D99-7586-4259-89DC-BEE260413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57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C9F36B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C9F36B"/>
                </a:solidFill>
                <a:latin typeface="Aptos"/>
                <a:ea typeface="Aptos"/>
                <a:cs typeface="Aptos"/>
              </a:rPr>
              <a:t>Ranking híbrido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66173A-0AF9-46AA-8D21-91A8B06F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371850"/>
            <a:ext cx="2057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FFFDF8"/>
                </a:solidFill>
                <a:latin typeface="Aptos"/>
                <a:ea typeface="Aptos"/>
                <a:cs typeface="Aptos"/>
              </a:rPr>
              <a:t>Os chunks mais úteis sobem.</a:t>
            </a:r>
          </a:p>
          <a:p xmlns:a="http://schemas.openxmlformats.org/drawingml/2006/main">
            <a:pPr algn="l">
              <a:defRPr sz="1350" b="0" i="0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FFFDF8"/>
                </a:solidFill>
                <a:latin typeface="Aptos"/>
                <a:ea typeface="Aptos"/>
                <a:cs typeface="Aptos"/>
              </a:rPr>
              <a:t>A busca deixa de olhar</a:t>
            </a:r>
          </a:p>
          <a:p xmlns:a="http://schemas.openxmlformats.org/drawingml/2006/main">
            <a:pPr algn="l">
              <a:defRPr sz="1350" b="0" i="0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FFFDF8"/>
                </a:solidFill>
                <a:latin typeface="Aptos"/>
                <a:ea typeface="Aptos"/>
                <a:cs typeface="Aptos"/>
              </a:rPr>
              <a:t>todas as palavras igualmente.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9B88CB-C9C9-42D9-8C7F-E5ACA191B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801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ED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312764-BB88-42ED-93DC-46475A265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53075"/>
            <a:ext cx="1238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4A8A9A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4A8A9A"/>
                </a:solidFill>
                <a:latin typeface="Aptos"/>
                <a:ea typeface="Aptos"/>
                <a:cs typeface="Aptos"/>
              </a:rPr>
              <a:t>Na prática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55F59D-6D11-4300-833E-EC8161333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524500"/>
            <a:ext cx="885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“ajustes” ganha contexto: o resultado pode aparecer mesmo quando o arquivo usa “alterações”, “correções” ou “revisão”.</a:t>
            </a:r>
          </a:p>
        </p:txBody>
      </p:sp>
      <p:cxnSp>
        <p:nvCxnSpPr>
          <p:cNvPr id="52" name=""/>
          <p:cNvCxnSpPr/>
          <p:nvPr/>
        </p:nvCxnSpPr>
        <p:spPr>
          <a:xfrm xmlns:a="http://schemas.openxmlformats.org/drawingml/2006/main">
            <a:off x="609600" y="6400800"/>
            <a:ext cx="109728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ED9"/>
            </a:solidFill>
            <a:prstDash val="soli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B318F3-2E56-44A4-A136-1A8FF6F25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AI-SEARCH-DEMO · AZURE AI SEARCH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97F413-F361-426B-9AE9-2EBF6E6D1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706511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0C0379-991F-49E4-A8F4-DA33DC778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96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E65932-702A-4B5A-8EAF-258AB1E16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38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A961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6A961C"/>
                </a:solidFill>
                <a:latin typeface="Aptos"/>
                <a:ea typeface="Aptos"/>
                <a:cs typeface="Aptos"/>
              </a:rPr>
              <a:t>FASE 3 · CONVERSAR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5CC5AB-CBBD-4FBE-AE28-3491EBD2A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2850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O modelo só responde depois que o Search entrega evidências.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A3F461-B25E-4984-92F1-97DFE47A7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914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RAG não é “o GPT lendo tudo”: é uma busca seletiva seguida de uma resposta controlada.</a:t>
            </a:r>
          </a:p>
        </p:txBody>
      </p:sp>
      <p:cxnSp>
        <p:nvCxnSpPr>
          <p:cNvPr id="30" name=""/>
          <p:cNvCxnSpPr/>
          <p:nvPr/>
        </p:nvCxnSpPr>
        <p:spPr>
          <a:xfrm xmlns:a="http://schemas.openxmlformats.org/drawingml/2006/main">
            <a:off x="2514600" y="3314700"/>
            <a:ext cx="1200150" cy="95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7C56C4"/>
            </a:solidFill>
            <a:prstDash val="solid"/>
          </a:ln>
        </p:spPr>
      </p:cxnSp>
      <p:cxnSp>
        <p:nvCxnSpPr>
          <p:cNvPr id="31" name=""/>
          <p:cNvCxnSpPr/>
          <p:nvPr/>
        </p:nvCxnSpPr>
        <p:spPr>
          <a:xfrm xmlns:a="http://schemas.openxmlformats.org/drawingml/2006/main">
            <a:off x="5562600" y="3314700"/>
            <a:ext cx="1200150" cy="95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7C56C4"/>
            </a:solidFill>
            <a:prstDash val="solid"/>
          </a:ln>
        </p:spPr>
      </p:cxnSp>
      <p:cxnSp>
        <p:nvCxnSpPr>
          <p:cNvPr id="32" name=""/>
          <p:cNvCxnSpPr/>
          <p:nvPr/>
        </p:nvCxnSpPr>
        <p:spPr>
          <a:xfrm xmlns:a="http://schemas.openxmlformats.org/drawingml/2006/main">
            <a:off x="8610600" y="3314700"/>
            <a:ext cx="1200150" cy="95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7C56C4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6435F6-0C00-4F73-81A3-E93A07C99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33650"/>
            <a:ext cx="18288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ED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7B9062-C414-451C-8550-AEBA205BA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860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C56C4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7C56C4"/>
                </a:solidFill>
                <a:latin typeface="Aptos"/>
                <a:ea typeface="Aptos"/>
                <a:cs typeface="Aptos"/>
              </a:rPr>
              <a:t>01 · Pergunta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B18E17-87F4-4941-B1C5-C5F69420B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1524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Mensagem atual + até 8 mensagens de histórico.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F6FA95-BCC4-42D8-AD96-EC9815834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33650"/>
            <a:ext cx="18478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DCD0FF"/>
          </a:solidFill>
          <a:ln xmlns:a="http://schemas.openxmlformats.org/drawingml/2006/main" w="9525">
            <a:solidFill>
              <a:srgbClr val="D8DED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417CC2-9B7E-4F68-B5F4-B001672D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686050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C56C4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7C56C4"/>
                </a:solidFill>
                <a:latin typeface="Aptos"/>
                <a:ea typeface="Aptos"/>
                <a:cs typeface="Aptos"/>
              </a:rPr>
              <a:t>02 · Search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250E5C-4CAF-421F-A1C8-37E5FCA0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048000"/>
            <a:ext cx="15430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Até 5 chunks híbridos, numerados como [1]…[5].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F222DE-D51E-4F19-89F3-80208A16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33650"/>
            <a:ext cx="18478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ED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AD83FD-5D15-4C28-BAAC-2E2FAA48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86050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72B3A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72B3A"/>
                </a:solidFill>
                <a:latin typeface="Aptos"/>
                <a:ea typeface="Aptos"/>
                <a:cs typeface="Aptos"/>
              </a:rPr>
              <a:t>03 · GPT-4.1 mini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044C49-5E71-4156-8892-D5B81D4A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048000"/>
            <a:ext cx="15430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Recebe pergunta, histórico e trechos como contexto não confiável.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DD71CF-809C-485A-ACDC-DCB9FFE7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533650"/>
            <a:ext cx="16954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C9F36B"/>
          </a:solidFill>
          <a:ln xmlns:a="http://schemas.openxmlformats.org/drawingml/2006/main" w="9525">
            <a:solidFill>
              <a:srgbClr val="D8DED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7D5BFD-52F9-433D-BE93-6245A45F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6860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04 · Resposta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DDEC0F-B7F0-4994-BCA4-3A16B5D21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048000"/>
            <a:ext cx="13906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Resumo progressivo, citações e recusa quando falta evidência.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2785B-18C4-456B-B9C3-DB00FC87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8204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0">
            <a:solidFill>
              <a:srgbClr val="172B3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8D10FC-00D7-46DB-AFBD-D1FF8B463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673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C9F36B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C9F36B"/>
                </a:solidFill>
                <a:latin typeface="Aptos"/>
                <a:ea typeface="Aptos"/>
                <a:cs typeface="Aptos"/>
              </a:rPr>
              <a:t>Regra de segurança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17EFE1-AB6F-476B-9797-9A1A0CF1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29200"/>
            <a:ext cx="771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FFFDF8"/>
                </a:solidFill>
                <a:latin typeface="Aptos"/>
                <a:ea typeface="Aptos"/>
                <a:cs typeface="Aptos"/>
              </a:rPr>
              <a:t>Se os trechos não sustentarem a resposta, o sistema diz: “Não encontrei evidência suficiente nos arquivos”.</a:t>
            </a:r>
          </a:p>
        </p:txBody>
      </p:sp>
      <p:cxnSp>
        <p:nvCxnSpPr>
          <p:cNvPr id="48" name=""/>
          <p:cNvCxnSpPr/>
          <p:nvPr/>
        </p:nvCxnSpPr>
        <p:spPr>
          <a:xfrm xmlns:a="http://schemas.openxmlformats.org/drawingml/2006/main">
            <a:off x="609600" y="6400800"/>
            <a:ext cx="109728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ED9"/>
            </a:solidFill>
            <a:prstDash val="soli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92960B-D4E3-4F1F-8EE7-48CD13F6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AI-SEARCH-DEMO · AZURE AI 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278E39-2002-4881-BE59-2E49D82E3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340670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C4DD1BC-F021-44AB-B472-7D030BDBC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96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E656C6-84FC-4F43-B424-AF70D0462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38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A961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6A961C"/>
                </a:solidFill>
                <a:latin typeface="Aptos"/>
                <a:ea typeface="Aptos"/>
                <a:cs typeface="Aptos"/>
              </a:rPr>
              <a:t>COMPARAÇÃO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7B94B0-712C-4AA3-9EC0-69E321D2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133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2850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Cada fase muda o que fazemos com o arquivo — e o que podemos perguntar.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F97D7B-D769-4762-8CBB-10E25F339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333750" cy="28575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ED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33CE45-B184-4CF4-856D-7C4DF384B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333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96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29CEEC-4892-4614-9E7A-40671A57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745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6A961C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6A961C"/>
                </a:solidFill>
                <a:latin typeface="Aptos"/>
                <a:ea typeface="Aptos"/>
                <a:cs typeface="Aptos"/>
              </a:rPr>
              <a:t>FASE 1</a:t>
            </a:r>
          </a:p>
        </p:txBody>
      </p:sp>
      <p:cxnSp>
        <p:nvCxnSpPr>
          <p:cNvPr id="41" name=""/>
          <p:cNvCxnSpPr/>
          <p:nvPr/>
        </p:nvCxnSpPr>
        <p:spPr>
          <a:xfrm xmlns:a="http://schemas.openxmlformats.org/drawingml/2006/main">
            <a:off x="914400" y="2857500"/>
            <a:ext cx="287655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ED9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AD8A0B-3AC8-4525-9ED1-B353820F7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Arquivo: texto indexado</a:t>
            </a:r>
          </a:p>
        </p:txBody>
      </p:sp>
      <p:cxnSp>
        <p:nvCxnSpPr>
          <p:cNvPr id="43" name=""/>
          <p:cNvCxnSpPr/>
          <p:nvPr/>
        </p:nvCxnSpPr>
        <p:spPr>
          <a:xfrm xmlns:a="http://schemas.openxmlformats.org/drawingml/2006/main">
            <a:off x="914400" y="3429000"/>
            <a:ext cx="287655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ED9"/>
            </a:solidFill>
            <a:prstDash val="soli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2AD5D0-2B33-47C4-AD73-537EC75C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814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Pergunta: termos explícitos</a:t>
            </a:r>
          </a:p>
        </p:txBody>
      </p:sp>
      <p:cxnSp>
        <p:nvCxnSpPr>
          <p:cNvPr id="45" name=""/>
          <p:cNvCxnSpPr/>
          <p:nvPr/>
        </p:nvCxnSpPr>
        <p:spPr>
          <a:xfrm xmlns:a="http://schemas.openxmlformats.org/drawingml/2006/main">
            <a:off x="914400" y="4000500"/>
            <a:ext cx="287655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ED9"/>
            </a:solidFill>
            <a:prstDash val="soli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B87968-CF5F-4033-973B-305AEBDC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529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Saída: documentos candidatos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7DB0EC-4F8E-4C36-86B2-04F10847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33600"/>
            <a:ext cx="3333750" cy="28575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E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D4C2B2-C985-4ACD-8EC7-5449E0AB0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33600"/>
            <a:ext cx="3333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8A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96F4CD-96F6-4D51-90E8-5ACE84D84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45745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4A8A9A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4A8A9A"/>
                </a:solidFill>
                <a:latin typeface="Aptos"/>
                <a:ea typeface="Aptos"/>
                <a:cs typeface="Aptos"/>
              </a:rPr>
              <a:t>FASE 2</a:t>
            </a:r>
          </a:p>
        </p:txBody>
      </p:sp>
      <p:cxnSp>
        <p:nvCxnSpPr>
          <p:cNvPr id="50" name=""/>
          <p:cNvCxnSpPr/>
          <p:nvPr/>
        </p:nvCxnSpPr>
        <p:spPr>
          <a:xfrm xmlns:a="http://schemas.openxmlformats.org/drawingml/2006/main">
            <a:off x="4648200" y="2857500"/>
            <a:ext cx="287655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ED9"/>
            </a:solidFill>
            <a:prstDash val="soli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3061D2-9205-43EC-BDBB-8FABE198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0099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Arquivo: chunks + vetores</a:t>
            </a:r>
          </a:p>
        </p:txBody>
      </p:sp>
      <p:cxnSp>
        <p:nvCxnSpPr>
          <p:cNvPr id="52" name=""/>
          <p:cNvCxnSpPr/>
          <p:nvPr/>
        </p:nvCxnSpPr>
        <p:spPr>
          <a:xfrm xmlns:a="http://schemas.openxmlformats.org/drawingml/2006/main">
            <a:off x="4648200" y="3429000"/>
            <a:ext cx="287655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ED9"/>
            </a:solidFill>
            <a:prstDash val="soli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4F4E92-53EE-47CE-AEAF-72993191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5814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Pergunta: intenção + palavras</a:t>
            </a:r>
          </a:p>
        </p:txBody>
      </p:sp>
      <p:cxnSp>
        <p:nvCxnSpPr>
          <p:cNvPr id="54" name=""/>
          <p:cNvCxnSpPr/>
          <p:nvPr/>
        </p:nvCxnSpPr>
        <p:spPr>
          <a:xfrm xmlns:a="http://schemas.openxmlformats.org/drawingml/2006/main">
            <a:off x="4648200" y="4000500"/>
            <a:ext cx="287655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ED9"/>
            </a:solidFill>
            <a:prstDash val="soli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EBE370-268C-4257-BE75-D8BB5D4A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1529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Saída: trechos ranqueados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E20B79-01A9-4971-904C-917D9CDC0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33600"/>
            <a:ext cx="3352800" cy="28575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ED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F8234A-1446-4EC4-852A-9E6E03852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33600"/>
            <a:ext cx="3352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5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EDDA60-1BA9-48BB-AD3B-48D687715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5745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7C56C4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7C56C4"/>
                </a:solidFill>
                <a:latin typeface="Aptos"/>
                <a:ea typeface="Aptos"/>
                <a:cs typeface="Aptos"/>
              </a:rPr>
              <a:t>FASE 3</a:t>
            </a:r>
          </a:p>
        </p:txBody>
      </p:sp>
      <p:cxnSp>
        <p:nvCxnSpPr>
          <p:cNvPr id="59" name=""/>
          <p:cNvCxnSpPr/>
          <p:nvPr/>
        </p:nvCxnSpPr>
        <p:spPr>
          <a:xfrm xmlns:a="http://schemas.openxmlformats.org/drawingml/2006/main">
            <a:off x="8382000" y="2857500"/>
            <a:ext cx="28956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ED9"/>
            </a:solidFill>
            <a:prstDash val="soli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BDB897-7C7B-4B95-97A9-98F9E60A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0099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Arquivo: contexto numerado</a:t>
            </a:r>
          </a:p>
        </p:txBody>
      </p:sp>
      <p:cxnSp>
        <p:nvCxnSpPr>
          <p:cNvPr id="61" name=""/>
          <p:cNvCxnSpPr/>
          <p:nvPr/>
        </p:nvCxnSpPr>
        <p:spPr>
          <a:xfrm xmlns:a="http://schemas.openxmlformats.org/drawingml/2006/main">
            <a:off x="8382000" y="3429000"/>
            <a:ext cx="28956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ED9"/>
            </a:solidFill>
            <a:prstDash val="soli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9F6508-D246-4225-971A-9FA9DDFA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814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Pergunta: conversa com memória</a:t>
            </a:r>
          </a:p>
        </p:txBody>
      </p:sp>
      <p:cxnSp>
        <p:nvCxnSpPr>
          <p:cNvPr id="63" name=""/>
          <p:cNvCxnSpPr/>
          <p:nvPr/>
        </p:nvCxnSpPr>
        <p:spPr>
          <a:xfrm xmlns:a="http://schemas.openxmlformats.org/drawingml/2006/main">
            <a:off x="8382000" y="4000500"/>
            <a:ext cx="28956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ED9"/>
            </a:solidFill>
            <a:prstDash val="solid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53B5F6-EF3A-4863-ADBA-3483292B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1529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Saída: resposta + fontes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BB6222-7DCE-4AD3-ADD2-16F7164A5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72B3A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172B3A"/>
                </a:solidFill>
                <a:latin typeface="Aptos"/>
                <a:ea typeface="Aptos"/>
                <a:cs typeface="Aptos"/>
              </a:rPr>
              <a:t>O salto não é só tecnológico: é uma mudança de contrato. A resposta precisa mostrar de onde veio.</a:t>
            </a:r>
          </a:p>
        </p:txBody>
      </p:sp>
      <p:cxnSp>
        <p:nvCxnSpPr>
          <p:cNvPr id="66" name=""/>
          <p:cNvCxnSpPr/>
          <p:nvPr/>
        </p:nvCxnSpPr>
        <p:spPr>
          <a:xfrm xmlns:a="http://schemas.openxmlformats.org/drawingml/2006/main">
            <a:off x="609600" y="6400800"/>
            <a:ext cx="109728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ED9"/>
            </a:solidFill>
            <a:prstDash val="solid"/>
          </a:ln>
        </p:spPr>
      </p:cxn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3B3EAC-B171-4AFA-B9B9-824FDFC9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AI-SEARCH-DEMO · AZURE AI SEARCH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A53DB7F-A1C2-4058-8FAA-81EA13A2E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7084724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3CC113-FBEA-452E-B47B-970E2F1B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96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A4BD62-3241-4BAD-8AE2-D0376718F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38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A961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6A961C"/>
                </a:solidFill>
                <a:latin typeface="Aptos"/>
                <a:ea typeface="Aptos"/>
                <a:cs typeface="Aptos"/>
              </a:rPr>
              <a:t>DEMONSTRAÇÃO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88AA93-043D-4129-9E97-9D5076557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2850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A demo mostra o salto em três perguntas.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A64DFA-91F9-4723-9B0E-786B2CE55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914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O roteiro começa factual, continua por contexto e termina com uma recusa segura.</a:t>
            </a:r>
          </a:p>
        </p:txBody>
      </p:sp>
      <p:cxnSp>
        <p:nvCxnSpPr>
          <p:cNvPr id="30" name=""/>
          <p:cNvCxnSpPr/>
          <p:nvPr/>
        </p:nvCxnSpPr>
        <p:spPr>
          <a:xfrm xmlns:a="http://schemas.openxmlformats.org/drawingml/2006/main">
            <a:off x="1333500" y="3429000"/>
            <a:ext cx="9525000" cy="953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8DED9"/>
            </a:solidFill>
            <a:prstDash val="solid"/>
          </a:ln>
        </p:spPr>
      </p:cxn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9F1316-2E85-48A3-8AB7-AA30C155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670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A8A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72AFCD-5862-4ECA-9089-64D660C0B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81200"/>
            <a:ext cx="23812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CDECEF"/>
          </a:solidFill>
          <a:ln xmlns:a="http://schemas.openxmlformats.org/drawingml/2006/main" w="0">
            <a:solidFill>
              <a:srgbClr val="CDECE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A02169-A963-4C5C-9AD2-36A3A70C9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71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4A8A9A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4A8A9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B008A9-9877-4AC8-B693-3BE5DBFD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198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O que mudou na</a:t>
            </a:r>
          </a:p>
          <a:p xmlns:a="http://schemas.openxmlformats.org/drawingml/2006/main">
            <a:pPr algn="l">
              <a:defRPr sz="1650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release 1.69.1?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6E6F48-1230-43E6-B3A2-FA7FCC1F8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862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4A8A9A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4A8A9A"/>
                </a:solidFill>
                <a:latin typeface="Aptos"/>
                <a:ea typeface="Aptos"/>
                <a:cs typeface="Aptos"/>
              </a:rPr>
              <a:t>Resposta com [n]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74D5AF-D97A-477D-BDD8-1A65688C7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2670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963B59-B2D9-427A-A08D-285500E8A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981200"/>
            <a:ext cx="23812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DCD0FF"/>
          </a:solidFill>
          <a:ln xmlns:a="http://schemas.openxmlformats.org/drawingml/2006/main" w="0">
            <a:solidFill>
              <a:srgbClr val="DCD0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4FEDB0-D17B-4632-A4EF-9149E584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71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7C56C4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7C56C4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FD7900-386E-4B03-A92A-BABA7488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495550"/>
            <a:ext cx="198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E sobre folha</a:t>
            </a:r>
          </a:p>
          <a:p xmlns:a="http://schemas.openxmlformats.org/drawingml/2006/main">
            <a:pPr algn="l">
              <a:defRPr sz="1650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de pagamento?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03A6A3-D68A-437C-AE46-42731ACF7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8862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7C56C4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7C56C4"/>
                </a:solidFill>
                <a:latin typeface="Aptos"/>
                <a:ea typeface="Aptos"/>
                <a:cs typeface="Aptos"/>
              </a:rPr>
              <a:t>Follow-up contextual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826973-682F-4420-A215-427D68803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2670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96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2BC9B1-1B9E-4D36-A070-42F5ECCAD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981200"/>
            <a:ext cx="23812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C9F36B"/>
          </a:solidFill>
          <a:ln xmlns:a="http://schemas.openxmlformats.org/drawingml/2006/main" w="0">
            <a:solidFill>
              <a:srgbClr val="C9F36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FA1A47-1836-4A35-A613-6CEEB083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71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6A961C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6A961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B73556-4617-4CD4-8B24-C5F40B045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95550"/>
            <a:ext cx="1981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Qual é a capital</a:t>
            </a:r>
          </a:p>
          <a:p xmlns:a="http://schemas.openxmlformats.org/drawingml/2006/main">
            <a:pPr algn="l">
              <a:defRPr sz="1650" b="1" i="0">
                <a:solidFill>
                  <a:srgbClr val="0C1B23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C1B23"/>
                </a:solidFill>
                <a:latin typeface="Aptos"/>
                <a:ea typeface="Aptos"/>
                <a:cs typeface="Aptos"/>
              </a:rPr>
              <a:t>da França?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92FC32-0D3C-49D1-BB2A-AFA6DB23C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862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6A961C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6A961C"/>
                </a:solidFill>
                <a:latin typeface="Aptos"/>
                <a:ea typeface="Aptos"/>
                <a:cs typeface="Aptos"/>
              </a:rPr>
              <a:t>Recusa fundamentada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992CFD-5841-436A-A1E5-72FD557E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D8DED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F4AD8E-94CD-43D7-A986-760125918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5780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72B3A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72B3A"/>
                </a:solidFill>
                <a:latin typeface="Aptos"/>
                <a:ea typeface="Aptos"/>
                <a:cs typeface="Aptos"/>
              </a:rPr>
              <a:t>A pergunta muda. O histórico fica curto. A fonte continua visível.</a:t>
            </a:r>
          </a:p>
        </p:txBody>
      </p:sp>
      <p:cxnSp>
        <p:nvCxnSpPr>
          <p:cNvPr id="48" name=""/>
          <p:cNvCxnSpPr/>
          <p:nvPr/>
        </p:nvCxnSpPr>
        <p:spPr>
          <a:xfrm xmlns:a="http://schemas.openxmlformats.org/drawingml/2006/main">
            <a:off x="609600" y="6400800"/>
            <a:ext cx="109728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ED9"/>
            </a:solidFill>
            <a:prstDash val="soli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6D1BAE-8066-4572-873A-26841DDB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AI-SEARCH-DEMO · AZURE AI 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01180E-CC7F-424B-8216-1CDCB3CC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231492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72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8BFD6A-7486-4B1D-A7B5-BAE48951D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F3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6BB8E1-A346-48BD-89D5-57B867AC5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F3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688426-28A8-489B-823D-ABFCA5EB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38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C9F36B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C9F36B"/>
                </a:solidFill>
                <a:latin typeface="Aptos"/>
                <a:ea typeface="Aptos"/>
                <a:cs typeface="Aptos"/>
              </a:rPr>
              <a:t>CONCLUSÃO · MVP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2F874E-CA41-491C-9132-D5364FFC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85725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4200" b="1" i="0">
                <a:solidFill>
                  <a:srgbClr val="FFFDF8"/>
                </a:solidFill>
                <a:latin typeface="Aptos"/>
                <a:ea typeface="Aptos"/>
                <a:cs typeface="Aptos"/>
              </a:rPr>
              <a:t>Conhecimento no arquivo.</a:t>
            </a:r>
          </a:p>
          <a:p xmlns:a="http://schemas.openxmlformats.org/drawingml/2006/main">
            <a:pPr algn="l">
              <a:defRPr sz="4200" b="1" i="0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4200" b="1" i="0">
                <a:solidFill>
                  <a:srgbClr val="FFFDF8"/>
                </a:solidFill>
                <a:latin typeface="Aptos"/>
                <a:ea typeface="Aptos"/>
                <a:cs typeface="Aptos"/>
              </a:rPr>
              <a:t>Confiança na resposta.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8D70F5-7B0E-4DD9-9DC8-DB3E3A36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657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DDE7E5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DDE7E5"/>
                </a:solidFill>
                <a:latin typeface="Aptos"/>
                <a:ea typeface="Aptos"/>
                <a:cs typeface="Aptos"/>
              </a:rPr>
              <a:t>O próximo passo não é colocar mais IA. É medir melhor a recuperação, a qualidade das citações e as perguntas que o time realmente faz.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7AA6D9-A7D1-4DEE-9321-79067976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562100"/>
            <a:ext cx="2247900" cy="224790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C9F36B"/>
          </a:solidFill>
          <a:ln xmlns:a="http://schemas.openxmlformats.org/drawingml/2006/main" w="0">
            <a:solidFill>
              <a:srgbClr val="C9F36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D36830-9B32-4E66-811D-48839E0B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90700"/>
            <a:ext cx="152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defRPr sz="7650" b="1" i="0">
                <a:solidFill>
                  <a:srgbClr val="172B3A"/>
                </a:solidFill>
                <a:latin typeface="Aptos"/>
                <a:ea typeface="Aptos"/>
                <a:cs typeface="Aptos"/>
              </a:defRPr>
            </a:pPr>
            <a:r>
              <a:rPr sz="7650" b="1" i="0">
                <a:solidFill>
                  <a:srgbClr val="172B3A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D37470-29EA-417F-B60E-543E985F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9908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172B3A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172B3A"/>
                </a:solidFill>
                <a:latin typeface="Aptos"/>
                <a:ea typeface="Aptos"/>
                <a:cs typeface="Aptos"/>
              </a:rPr>
              <a:t>fases</a:t>
            </a:r>
          </a:p>
          <a:p xmlns:a="http://schemas.openxmlformats.org/drawingml/2006/main">
            <a:pPr algn="ctr">
              <a:defRPr sz="1275" b="1" i="0">
                <a:solidFill>
                  <a:srgbClr val="172B3A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172B3A"/>
                </a:solidFill>
                <a:latin typeface="Aptos"/>
                <a:ea typeface="Aptos"/>
                <a:cs typeface="Aptos"/>
              </a:rPr>
              <a:t>para explicar o MVP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8967CF-B0EB-432F-BE73-35BB95A9D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C9F36B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C9F36B"/>
                </a:solidFill>
                <a:latin typeface="Aptos"/>
                <a:ea typeface="Aptos"/>
                <a:cs typeface="Aptos"/>
              </a:rPr>
              <a:t>Busca lexical → busca híbrida → conversa fundamentada</a:t>
            </a:r>
          </a:p>
        </p:txBody>
      </p:sp>
      <p:cxnSp>
        <p:nvCxnSpPr>
          <p:cNvPr id="22" name=""/>
          <p:cNvCxnSpPr/>
          <p:nvPr/>
        </p:nvCxnSpPr>
        <p:spPr>
          <a:xfrm xmlns:a="http://schemas.openxmlformats.org/drawingml/2006/main">
            <a:off x="609600" y="6400800"/>
            <a:ext cx="109728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ED9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FF6063-FAEB-49CD-BFAC-6FC9A2688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AI-SEARCH-DEMO · PERGUNTAS PARA O TIME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8D9655-7616-4E16-A487-9CC679F1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5A6B6A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A6B6A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60409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2026-08-12T16:39:45.2420000Z</dcterms:created>
  <dcterms:modified xsi:type="dcterms:W3CDTF">2026-08-12T16:39:45.2420000Z</dcterms:modified>
</coreProperties>
</file>